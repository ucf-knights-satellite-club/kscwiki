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2.xml" ContentType="application/vnd.openxmlformats-officedocument.presentationml.slide+xml"/>
  <Override PartName="/ppt/slides/slide1.xml" ContentType="application/vnd.openxmlformats-officedocument.presentationml.slide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viewProps.xml" ContentType="application/vnd.openxmlformats-officedocument.presentationml.viewProps+xml"/>
  <Override PartName="/docProps/app.xml" ContentType="application/vnd.openxmlformats-officedocument.extended-properties+xml"/>
  <Override PartName="/docProps/core.xml" ContentType="application/vnd.openxmlformats-package.core-propertie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8" r:id="rId3"/>
  </p:sldIdLst>
  <p:sldSz cx="9144000" cy="6858000" type="screen4x3"/>
  <p:notesSz cx="7102475" cy="9388475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154" d="100"/>
          <a:sy n="154" d="100"/>
        </p:scale>
        <p:origin x="-2268" y="-90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customXml" Target="../customXml/item1.xml"/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10" Type="http://schemas.openxmlformats.org/officeDocument/2006/relationships/customXml" Target="../customXml/item3.xml"/><Relationship Id="rId4" Type="http://schemas.openxmlformats.org/officeDocument/2006/relationships/presProps" Target="presProps.xml"/><Relationship Id="rId9" Type="http://schemas.openxmlformats.org/officeDocument/2006/relationships/customXml" Target="../customXml/item2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403665-7BEC-42C0-98AF-F253C987336B}" type="datetimeFigureOut">
              <a:rPr lang="en-US" smtClean="0"/>
              <a:t>5/17/2021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E87646-648C-43B8-B3A6-EE7D358130A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8420868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403665-7BEC-42C0-98AF-F253C987336B}" type="datetimeFigureOut">
              <a:rPr lang="en-US" smtClean="0"/>
              <a:t>5/17/2021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E87646-648C-43B8-B3A6-EE7D358130A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62620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403665-7BEC-42C0-98AF-F253C987336B}" type="datetimeFigureOut">
              <a:rPr lang="en-US" smtClean="0"/>
              <a:t>5/17/2021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E87646-648C-43B8-B3A6-EE7D358130A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5710041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403665-7BEC-42C0-98AF-F253C987336B}" type="datetimeFigureOut">
              <a:rPr lang="en-US" smtClean="0"/>
              <a:t>5/17/2021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E87646-648C-43B8-B3A6-EE7D358130A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475895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403665-7BEC-42C0-98AF-F253C987336B}" type="datetimeFigureOut">
              <a:rPr lang="en-US" smtClean="0"/>
              <a:t>5/17/2021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E87646-648C-43B8-B3A6-EE7D358130A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449290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403665-7BEC-42C0-98AF-F253C987336B}" type="datetimeFigureOut">
              <a:rPr lang="en-US" smtClean="0"/>
              <a:t>5/17/2021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E87646-648C-43B8-B3A6-EE7D358130A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475911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403665-7BEC-42C0-98AF-F253C987336B}" type="datetimeFigureOut">
              <a:rPr lang="en-US" smtClean="0"/>
              <a:t>5/17/2021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E87646-648C-43B8-B3A6-EE7D358130A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73509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403665-7BEC-42C0-98AF-F253C987336B}" type="datetimeFigureOut">
              <a:rPr lang="en-US" smtClean="0"/>
              <a:t>5/17/2021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E87646-648C-43B8-B3A6-EE7D358130A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6323314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403665-7BEC-42C0-98AF-F253C987336B}" type="datetimeFigureOut">
              <a:rPr lang="en-US" smtClean="0"/>
              <a:t>5/17/2021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E87646-648C-43B8-B3A6-EE7D358130A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494089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403665-7BEC-42C0-98AF-F253C987336B}" type="datetimeFigureOut">
              <a:rPr lang="en-US" smtClean="0"/>
              <a:t>5/17/2021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E87646-648C-43B8-B3A6-EE7D358130A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321240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403665-7BEC-42C0-98AF-F253C987336B}" type="datetimeFigureOut">
              <a:rPr lang="en-US" smtClean="0"/>
              <a:t>5/17/2021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E87646-648C-43B8-B3A6-EE7D358130A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635743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7403665-7BEC-42C0-98AF-F253C987336B}" type="datetimeFigureOut">
              <a:rPr lang="en-US" smtClean="0"/>
              <a:t>5/17/2021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4E87646-648C-43B8-B3A6-EE7D358130A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903579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10405" y="76200"/>
            <a:ext cx="2146670" cy="6781800"/>
          </a:xfrm>
          <a:prstGeom prst="rect">
            <a:avLst/>
          </a:prstGeom>
        </p:spPr>
      </p:pic>
      <p:sp>
        <p:nvSpPr>
          <p:cNvPr id="6" name="Line Callout 1 (Accent Bar) 5"/>
          <p:cNvSpPr/>
          <p:nvPr/>
        </p:nvSpPr>
        <p:spPr>
          <a:xfrm>
            <a:off x="5715000" y="4419600"/>
            <a:ext cx="457200" cy="228600"/>
          </a:xfrm>
          <a:prstGeom prst="accentCallout1">
            <a:avLst>
              <a:gd name="adj1" fmla="val 48480"/>
              <a:gd name="adj2" fmla="val -18468"/>
              <a:gd name="adj3" fmla="val 50339"/>
              <a:gd name="adj4" fmla="val -64684"/>
            </a:avLst>
          </a:prstGeom>
          <a:noFill/>
          <a:ln w="19050"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50" dirty="0" smtClean="0">
                <a:solidFill>
                  <a:schemeClr val="tx1"/>
                </a:solidFill>
              </a:rPr>
              <a:t>PDU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7" name="Line Callout 1 (Accent Bar) 6"/>
          <p:cNvSpPr/>
          <p:nvPr/>
        </p:nvSpPr>
        <p:spPr>
          <a:xfrm flipH="1">
            <a:off x="2772278" y="533400"/>
            <a:ext cx="430426" cy="152400"/>
          </a:xfrm>
          <a:prstGeom prst="accentCallout1">
            <a:avLst>
              <a:gd name="adj1" fmla="val 51183"/>
              <a:gd name="adj2" fmla="val -7657"/>
              <a:gd name="adj3" fmla="val 58448"/>
              <a:gd name="adj4" fmla="val -82330"/>
            </a:avLst>
          </a:prstGeom>
          <a:noFill/>
          <a:ln w="19050"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50" dirty="0" smtClean="0">
                <a:solidFill>
                  <a:schemeClr val="tx1"/>
                </a:solidFill>
              </a:rPr>
              <a:t>PDU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8" name="Line Callout 1 (Accent Bar) 7"/>
          <p:cNvSpPr/>
          <p:nvPr/>
        </p:nvSpPr>
        <p:spPr>
          <a:xfrm flipH="1">
            <a:off x="2462205" y="4648200"/>
            <a:ext cx="740499" cy="228600"/>
          </a:xfrm>
          <a:prstGeom prst="accentCallout1">
            <a:avLst>
              <a:gd name="adj1" fmla="val 51183"/>
              <a:gd name="adj2" fmla="val -7657"/>
              <a:gd name="adj3" fmla="val 53042"/>
              <a:gd name="adj4" fmla="val -46917"/>
            </a:avLst>
          </a:prstGeom>
          <a:noFill/>
          <a:ln w="19050"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50" dirty="0" smtClean="0">
                <a:solidFill>
                  <a:schemeClr val="tx1"/>
                </a:solidFill>
              </a:rPr>
              <a:t>PC1-RF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9" name="Line Callout 1 (Accent Bar) 8"/>
          <p:cNvSpPr/>
          <p:nvPr/>
        </p:nvSpPr>
        <p:spPr>
          <a:xfrm flipH="1">
            <a:off x="2288304" y="5181600"/>
            <a:ext cx="914400" cy="228600"/>
          </a:xfrm>
          <a:prstGeom prst="accentCallout1">
            <a:avLst>
              <a:gd name="adj1" fmla="val 51183"/>
              <a:gd name="adj2" fmla="val -7657"/>
              <a:gd name="adj3" fmla="val 50339"/>
              <a:gd name="adj4" fmla="val -37658"/>
            </a:avLst>
          </a:prstGeom>
          <a:noFill/>
          <a:ln w="19050"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50" dirty="0" smtClean="0">
                <a:solidFill>
                  <a:schemeClr val="tx1"/>
                </a:solidFill>
              </a:rPr>
              <a:t>PC2-Pointing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0" name="Line Callout 1 (Accent Bar) 9"/>
          <p:cNvSpPr/>
          <p:nvPr/>
        </p:nvSpPr>
        <p:spPr>
          <a:xfrm flipH="1">
            <a:off x="2462205" y="3581400"/>
            <a:ext cx="740499" cy="228600"/>
          </a:xfrm>
          <a:prstGeom prst="accentCallout1">
            <a:avLst>
              <a:gd name="adj1" fmla="val 51183"/>
              <a:gd name="adj2" fmla="val -7657"/>
              <a:gd name="adj3" fmla="val 53042"/>
              <a:gd name="adj4" fmla="val -46917"/>
            </a:avLst>
          </a:prstGeom>
          <a:noFill/>
          <a:ln w="19050"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50" dirty="0" smtClean="0">
                <a:solidFill>
                  <a:schemeClr val="tx1"/>
                </a:solidFill>
              </a:rPr>
              <a:t>IC-R8600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1" name="Line Callout 1 (Accent Bar) 10"/>
          <p:cNvSpPr/>
          <p:nvPr/>
        </p:nvSpPr>
        <p:spPr>
          <a:xfrm flipH="1">
            <a:off x="2462205" y="3200400"/>
            <a:ext cx="740499" cy="228600"/>
          </a:xfrm>
          <a:prstGeom prst="accentCallout1">
            <a:avLst>
              <a:gd name="adj1" fmla="val 51183"/>
              <a:gd name="adj2" fmla="val -7657"/>
              <a:gd name="adj3" fmla="val 53042"/>
              <a:gd name="adj4" fmla="val -46917"/>
            </a:avLst>
          </a:prstGeom>
          <a:noFill/>
          <a:ln w="19050"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50" dirty="0" smtClean="0">
                <a:solidFill>
                  <a:schemeClr val="tx1"/>
                </a:solidFill>
              </a:rPr>
              <a:t>IC-9700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2" name="Line Callout 1 (Accent Bar) 11"/>
          <p:cNvSpPr/>
          <p:nvPr/>
        </p:nvSpPr>
        <p:spPr>
          <a:xfrm>
            <a:off x="5715000" y="2819400"/>
            <a:ext cx="914400" cy="228600"/>
          </a:xfrm>
          <a:prstGeom prst="accentCallout1">
            <a:avLst>
              <a:gd name="adj1" fmla="val 51183"/>
              <a:gd name="adj2" fmla="val -7657"/>
              <a:gd name="adj3" fmla="val 53042"/>
              <a:gd name="adj4" fmla="val -43063"/>
            </a:avLst>
          </a:prstGeom>
          <a:noFill/>
          <a:ln w="19050"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 smtClean="0">
                <a:solidFill>
                  <a:schemeClr val="tx1"/>
                </a:solidFill>
              </a:rPr>
              <a:t>Big RAZ </a:t>
            </a:r>
            <a:r>
              <a:rPr lang="en-US" sz="1200" dirty="0" err="1" smtClean="0">
                <a:solidFill>
                  <a:schemeClr val="tx1"/>
                </a:solidFill>
              </a:rPr>
              <a:t>Ctlr</a:t>
            </a:r>
            <a:endParaRPr lang="en-US" sz="1200" dirty="0">
              <a:solidFill>
                <a:schemeClr val="tx1"/>
              </a:solidFill>
            </a:endParaRPr>
          </a:p>
        </p:txBody>
      </p:sp>
      <p:sp>
        <p:nvSpPr>
          <p:cNvPr id="13" name="Line Callout 1 (Accent Bar) 12"/>
          <p:cNvSpPr/>
          <p:nvPr/>
        </p:nvSpPr>
        <p:spPr>
          <a:xfrm>
            <a:off x="5715000" y="3962400"/>
            <a:ext cx="1025611" cy="228600"/>
          </a:xfrm>
          <a:prstGeom prst="accentCallout1">
            <a:avLst>
              <a:gd name="adj1" fmla="val 51183"/>
              <a:gd name="adj2" fmla="val -7657"/>
              <a:gd name="adj3" fmla="val 47637"/>
              <a:gd name="adj4" fmla="val -28003"/>
            </a:avLst>
          </a:prstGeom>
          <a:noFill/>
          <a:ln w="19050"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50" dirty="0" smtClean="0">
                <a:solidFill>
                  <a:schemeClr val="tx1"/>
                </a:solidFill>
              </a:rPr>
              <a:t>Slide out Table</a:t>
            </a:r>
            <a:endParaRPr lang="en-US" sz="1050" dirty="0">
              <a:solidFill>
                <a:schemeClr val="tx1"/>
              </a:solidFill>
            </a:endParaRPr>
          </a:p>
        </p:txBody>
      </p:sp>
      <p:sp>
        <p:nvSpPr>
          <p:cNvPr id="14" name="Line Callout 1 (Accent Bar) 13"/>
          <p:cNvSpPr/>
          <p:nvPr/>
        </p:nvSpPr>
        <p:spPr>
          <a:xfrm flipH="1">
            <a:off x="2362199" y="2362200"/>
            <a:ext cx="840505" cy="228600"/>
          </a:xfrm>
          <a:prstGeom prst="accentCallout1">
            <a:avLst>
              <a:gd name="adj1" fmla="val 51183"/>
              <a:gd name="adj2" fmla="val -7657"/>
              <a:gd name="adj3" fmla="val 50339"/>
              <a:gd name="adj4" fmla="val -39566"/>
            </a:avLst>
          </a:prstGeom>
          <a:noFill/>
          <a:ln w="19050"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50" dirty="0" smtClean="0">
                <a:solidFill>
                  <a:schemeClr val="tx1"/>
                </a:solidFill>
              </a:rPr>
              <a:t>Q-Pace CGS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5" name="Line Callout 1 (Accent Bar) 14"/>
          <p:cNvSpPr/>
          <p:nvPr/>
        </p:nvSpPr>
        <p:spPr>
          <a:xfrm flipH="1">
            <a:off x="2438400" y="1600200"/>
            <a:ext cx="764304" cy="228600"/>
          </a:xfrm>
          <a:prstGeom prst="accentCallout1">
            <a:avLst>
              <a:gd name="adj1" fmla="val 51183"/>
              <a:gd name="adj2" fmla="val -7657"/>
              <a:gd name="adj3" fmla="val 50339"/>
              <a:gd name="adj4" fmla="val -45225"/>
            </a:avLst>
          </a:prstGeom>
          <a:noFill/>
          <a:ln w="19050"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50" dirty="0" err="1" smtClean="0">
                <a:solidFill>
                  <a:schemeClr val="tx1"/>
                </a:solidFill>
              </a:rPr>
              <a:t>Astron</a:t>
            </a:r>
            <a:r>
              <a:rPr lang="en-US" sz="1050" dirty="0" smtClean="0">
                <a:solidFill>
                  <a:schemeClr val="tx1"/>
                </a:solidFill>
              </a:rPr>
              <a:t> 2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6" name="Line Callout 1 (Accent Bar) 15"/>
          <p:cNvSpPr/>
          <p:nvPr/>
        </p:nvSpPr>
        <p:spPr>
          <a:xfrm>
            <a:off x="5715000" y="1028700"/>
            <a:ext cx="716691" cy="228600"/>
          </a:xfrm>
          <a:prstGeom prst="accentCallout1">
            <a:avLst>
              <a:gd name="adj1" fmla="val 51183"/>
              <a:gd name="adj2" fmla="val -7657"/>
              <a:gd name="adj3" fmla="val 50339"/>
              <a:gd name="adj4" fmla="val -39566"/>
            </a:avLst>
          </a:prstGeom>
          <a:noFill/>
          <a:ln w="19050"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50" dirty="0" err="1" smtClean="0">
                <a:solidFill>
                  <a:schemeClr val="tx1"/>
                </a:solidFill>
              </a:rPr>
              <a:t>Astron</a:t>
            </a:r>
            <a:r>
              <a:rPr lang="en-US" sz="1050" dirty="0" smtClean="0">
                <a:solidFill>
                  <a:schemeClr val="tx1"/>
                </a:solidFill>
              </a:rPr>
              <a:t> 1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4301630" y="347990"/>
            <a:ext cx="346570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50" dirty="0" smtClean="0">
                <a:solidFill>
                  <a:schemeClr val="bg1"/>
                </a:solidFill>
              </a:rPr>
              <a:t>1U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4343400" y="1338590"/>
            <a:ext cx="346570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50" dirty="0" smtClean="0">
                <a:solidFill>
                  <a:schemeClr val="bg1"/>
                </a:solidFill>
              </a:rPr>
              <a:t>1U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4301630" y="2590800"/>
            <a:ext cx="346570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50" dirty="0" smtClean="0">
                <a:solidFill>
                  <a:schemeClr val="bg1"/>
                </a:solidFill>
              </a:rPr>
              <a:t>1U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4301630" y="1948190"/>
            <a:ext cx="340158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50" dirty="0">
                <a:solidFill>
                  <a:schemeClr val="bg1"/>
                </a:solidFill>
              </a:rPr>
              <a:t>2</a:t>
            </a:r>
            <a:r>
              <a:rPr lang="en-US" sz="1050" dirty="0" smtClean="0">
                <a:solidFill>
                  <a:schemeClr val="bg1"/>
                </a:solidFill>
              </a:rPr>
              <a:t>U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4308042" y="685800"/>
            <a:ext cx="340158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50" dirty="0">
                <a:solidFill>
                  <a:schemeClr val="bg1"/>
                </a:solidFill>
              </a:rPr>
              <a:t>2</a:t>
            </a:r>
            <a:r>
              <a:rPr lang="en-US" sz="1050" dirty="0" smtClean="0">
                <a:solidFill>
                  <a:schemeClr val="bg1"/>
                </a:solidFill>
              </a:rPr>
              <a:t>U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4308042" y="4191000"/>
            <a:ext cx="340158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50" dirty="0">
                <a:solidFill>
                  <a:schemeClr val="bg1"/>
                </a:solidFill>
              </a:rPr>
              <a:t>2</a:t>
            </a:r>
            <a:r>
              <a:rPr lang="en-US" sz="1050" dirty="0" smtClean="0">
                <a:solidFill>
                  <a:schemeClr val="bg1"/>
                </a:solidFill>
              </a:rPr>
              <a:t>U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4308042" y="4876800"/>
            <a:ext cx="340158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50" dirty="0">
                <a:solidFill>
                  <a:schemeClr val="bg1"/>
                </a:solidFill>
              </a:rPr>
              <a:t>2</a:t>
            </a:r>
            <a:r>
              <a:rPr lang="en-US" sz="1050" dirty="0" smtClean="0">
                <a:solidFill>
                  <a:schemeClr val="bg1"/>
                </a:solidFill>
              </a:rPr>
              <a:t>U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4343400" y="5943600"/>
            <a:ext cx="340158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50" dirty="0" smtClean="0">
                <a:solidFill>
                  <a:schemeClr val="bg1"/>
                </a:solidFill>
              </a:rPr>
              <a:t>3U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25" name="Left Brace 24"/>
          <p:cNvSpPr/>
          <p:nvPr/>
        </p:nvSpPr>
        <p:spPr>
          <a:xfrm flipH="1">
            <a:off x="5711952" y="3094338"/>
            <a:ext cx="155448" cy="791862"/>
          </a:xfrm>
          <a:prstGeom prst="leftBrace">
            <a:avLst/>
          </a:prstGeom>
          <a:ln>
            <a:solidFill>
              <a:schemeClr val="accent4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TextBox 25"/>
          <p:cNvSpPr txBox="1"/>
          <p:nvPr/>
        </p:nvSpPr>
        <p:spPr>
          <a:xfrm>
            <a:off x="5822198" y="3352800"/>
            <a:ext cx="2178802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50" dirty="0" smtClean="0"/>
              <a:t>Sliding shelves with brackets/clamps</a:t>
            </a:r>
            <a:endParaRPr lang="en-US" dirty="0"/>
          </a:p>
        </p:txBody>
      </p:sp>
      <p:sp>
        <p:nvSpPr>
          <p:cNvPr id="27" name="TextBox 26"/>
          <p:cNvSpPr txBox="1"/>
          <p:nvPr/>
        </p:nvSpPr>
        <p:spPr>
          <a:xfrm>
            <a:off x="228600" y="5521404"/>
            <a:ext cx="3225114" cy="107721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 smtClean="0"/>
              <a:t>Equipment should be placed on </a:t>
            </a:r>
          </a:p>
          <a:p>
            <a:r>
              <a:rPr lang="en-US" sz="1600" dirty="0" smtClean="0"/>
              <a:t>rails or shelves except for the </a:t>
            </a:r>
          </a:p>
          <a:p>
            <a:r>
              <a:rPr lang="en-US" sz="1600" dirty="0" smtClean="0"/>
              <a:t>Communications Rx and the UHF</a:t>
            </a:r>
          </a:p>
          <a:p>
            <a:r>
              <a:rPr lang="en-US" sz="1600" dirty="0" err="1" smtClean="0"/>
              <a:t>TRx</a:t>
            </a:r>
            <a:r>
              <a:rPr lang="en-US" sz="1600" dirty="0" smtClean="0"/>
              <a:t>; the latter are on sliding shelves.</a:t>
            </a:r>
            <a:endParaRPr lang="en-US" sz="1600" dirty="0"/>
          </a:p>
        </p:txBody>
      </p:sp>
      <p:sp>
        <p:nvSpPr>
          <p:cNvPr id="28" name="Line Callout 1 (Accent Bar) 27"/>
          <p:cNvSpPr/>
          <p:nvPr/>
        </p:nvSpPr>
        <p:spPr>
          <a:xfrm>
            <a:off x="5715000" y="1981200"/>
            <a:ext cx="1295400" cy="228600"/>
          </a:xfrm>
          <a:prstGeom prst="accentCallout1">
            <a:avLst>
              <a:gd name="adj1" fmla="val 51183"/>
              <a:gd name="adj2" fmla="val -7657"/>
              <a:gd name="adj3" fmla="val 55745"/>
              <a:gd name="adj4" fmla="val -34478"/>
            </a:avLst>
          </a:prstGeom>
          <a:noFill/>
          <a:ln w="19050"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50" dirty="0" smtClean="0">
                <a:solidFill>
                  <a:schemeClr val="tx1"/>
                </a:solidFill>
              </a:rPr>
              <a:t>Linear behind panel</a:t>
            </a:r>
            <a:endParaRPr lang="en-US" sz="1050" dirty="0">
              <a:solidFill>
                <a:schemeClr val="tx1"/>
              </a:solidFill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5638800" y="5029200"/>
            <a:ext cx="3217163" cy="15696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 smtClean="0"/>
              <a:t>If </a:t>
            </a:r>
            <a:r>
              <a:rPr lang="en-US" sz="1600" dirty="0" err="1" smtClean="0"/>
              <a:t>tipover</a:t>
            </a:r>
            <a:r>
              <a:rPr lang="en-US" sz="1600" dirty="0" smtClean="0"/>
              <a:t> is a concern, swap location</a:t>
            </a:r>
          </a:p>
          <a:p>
            <a:r>
              <a:rPr lang="en-US" sz="1600" dirty="0" smtClean="0"/>
              <a:t>of the </a:t>
            </a:r>
            <a:r>
              <a:rPr lang="en-US" sz="1600" dirty="0" err="1" smtClean="0"/>
              <a:t>Astron</a:t>
            </a:r>
            <a:r>
              <a:rPr lang="en-US" sz="1600" dirty="0" smtClean="0"/>
              <a:t> supplies and the PCs.</a:t>
            </a:r>
          </a:p>
          <a:p>
            <a:r>
              <a:rPr lang="en-US" sz="1600" dirty="0" smtClean="0"/>
              <a:t>Blank panels indicated in “U”s.</a:t>
            </a:r>
          </a:p>
          <a:p>
            <a:r>
              <a:rPr lang="en-US" sz="1600" dirty="0" smtClean="0"/>
              <a:t>Once installed, 3U panels can be </a:t>
            </a:r>
          </a:p>
          <a:p>
            <a:r>
              <a:rPr lang="en-US" sz="1600" dirty="0" smtClean="0"/>
              <a:t>machined to fit the IC-R8600 and </a:t>
            </a:r>
          </a:p>
          <a:p>
            <a:r>
              <a:rPr lang="en-US" sz="1600" dirty="0" smtClean="0"/>
              <a:t>IC-9700</a:t>
            </a:r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148258945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3055544" y="429936"/>
            <a:ext cx="3345256" cy="6199464"/>
          </a:xfrm>
          <a:prstGeom prst="rect">
            <a:avLst/>
          </a:prstGeom>
        </p:spPr>
      </p:pic>
      <p:cxnSp>
        <p:nvCxnSpPr>
          <p:cNvPr id="4" name="Straight Arrow Connector 3"/>
          <p:cNvCxnSpPr/>
          <p:nvPr/>
        </p:nvCxnSpPr>
        <p:spPr>
          <a:xfrm flipV="1">
            <a:off x="4419600" y="457200"/>
            <a:ext cx="0" cy="484464"/>
          </a:xfrm>
          <a:prstGeom prst="straightConnector1">
            <a:avLst/>
          </a:prstGeom>
          <a:ln w="381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Straight Arrow Connector 4"/>
          <p:cNvCxnSpPr/>
          <p:nvPr/>
        </p:nvCxnSpPr>
        <p:spPr>
          <a:xfrm flipV="1">
            <a:off x="4876800" y="658536"/>
            <a:ext cx="0" cy="484464"/>
          </a:xfrm>
          <a:prstGeom prst="straightConnector1">
            <a:avLst/>
          </a:prstGeom>
          <a:ln w="381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Left Brace 5"/>
          <p:cNvSpPr/>
          <p:nvPr/>
        </p:nvSpPr>
        <p:spPr>
          <a:xfrm>
            <a:off x="2743200" y="1600200"/>
            <a:ext cx="312344" cy="4038600"/>
          </a:xfrm>
          <a:prstGeom prst="lef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/>
          <p:cNvSpPr txBox="1"/>
          <p:nvPr/>
        </p:nvSpPr>
        <p:spPr>
          <a:xfrm>
            <a:off x="921458" y="2942391"/>
            <a:ext cx="1977914" cy="135421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 smtClean="0"/>
              <a:t>Except for equipment</a:t>
            </a:r>
          </a:p>
          <a:p>
            <a:r>
              <a:rPr lang="en-US" sz="1600" dirty="0"/>
              <a:t>w</a:t>
            </a:r>
            <a:r>
              <a:rPr lang="en-US" sz="1600" dirty="0" smtClean="0"/>
              <a:t>ith front vents </a:t>
            </a:r>
          </a:p>
          <a:p>
            <a:r>
              <a:rPr lang="en-US" sz="1600" dirty="0" smtClean="0"/>
              <a:t>(venting inward)</a:t>
            </a:r>
          </a:p>
          <a:p>
            <a:r>
              <a:rPr lang="en-US" sz="1600" dirty="0"/>
              <a:t>t</a:t>
            </a:r>
            <a:r>
              <a:rPr lang="en-US" sz="1600" dirty="0" smtClean="0"/>
              <a:t>he front should be </a:t>
            </a:r>
          </a:p>
          <a:p>
            <a:r>
              <a:rPr lang="en-US" sz="1600" dirty="0" smtClean="0"/>
              <a:t>airflow restrained.</a:t>
            </a:r>
            <a:endParaRPr lang="en-US" sz="1600" dirty="0"/>
          </a:p>
        </p:txBody>
      </p:sp>
      <p:cxnSp>
        <p:nvCxnSpPr>
          <p:cNvPr id="9" name="Straight Arrow Connector 8"/>
          <p:cNvCxnSpPr/>
          <p:nvPr/>
        </p:nvCxnSpPr>
        <p:spPr>
          <a:xfrm flipV="1">
            <a:off x="2899372" y="5791200"/>
            <a:ext cx="1367828" cy="304800"/>
          </a:xfrm>
          <a:prstGeom prst="straightConnector1">
            <a:avLst/>
          </a:prstGeom>
          <a:ln>
            <a:solidFill>
              <a:srgbClr val="00B05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914400" y="5789141"/>
            <a:ext cx="1939377" cy="107721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 smtClean="0"/>
              <a:t>This panel should be </a:t>
            </a:r>
          </a:p>
          <a:p>
            <a:r>
              <a:rPr lang="en-US" sz="1600" dirty="0"/>
              <a:t>r</a:t>
            </a:r>
            <a:r>
              <a:rPr lang="en-US" sz="1600" dirty="0" smtClean="0"/>
              <a:t>eplaced with vents/</a:t>
            </a:r>
          </a:p>
          <a:p>
            <a:r>
              <a:rPr lang="en-US" sz="1600" dirty="0" smtClean="0"/>
              <a:t>filter if plenum space</a:t>
            </a:r>
          </a:p>
          <a:p>
            <a:r>
              <a:rPr lang="en-US" sz="1600" dirty="0"/>
              <a:t>h</a:t>
            </a:r>
            <a:r>
              <a:rPr lang="en-US" sz="1600" dirty="0" smtClean="0"/>
              <a:t>eat is excessive</a:t>
            </a:r>
            <a:endParaRPr lang="en-US" sz="1600" dirty="0"/>
          </a:p>
        </p:txBody>
      </p:sp>
      <p:cxnSp>
        <p:nvCxnSpPr>
          <p:cNvPr id="16" name="Straight Arrow Connector 15"/>
          <p:cNvCxnSpPr/>
          <p:nvPr/>
        </p:nvCxnSpPr>
        <p:spPr>
          <a:xfrm flipH="1">
            <a:off x="5943600" y="4572000"/>
            <a:ext cx="990600" cy="30480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Arrow Connector 17"/>
          <p:cNvCxnSpPr/>
          <p:nvPr/>
        </p:nvCxnSpPr>
        <p:spPr>
          <a:xfrm flipH="1">
            <a:off x="5943600" y="2057400"/>
            <a:ext cx="990600" cy="30480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5945659" y="2791004"/>
            <a:ext cx="2869888" cy="147732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Cool air should enter from </a:t>
            </a:r>
          </a:p>
          <a:p>
            <a:r>
              <a:rPr lang="en-US" dirty="0" smtClean="0"/>
              <a:t>rear. Observe airflow exiting </a:t>
            </a:r>
          </a:p>
          <a:p>
            <a:r>
              <a:rPr lang="en-US" dirty="0" smtClean="0"/>
              <a:t>equipment; locate hot </a:t>
            </a:r>
          </a:p>
          <a:p>
            <a:r>
              <a:rPr lang="en-US" dirty="0" smtClean="0"/>
              <a:t>equipment at the upper</a:t>
            </a:r>
          </a:p>
          <a:p>
            <a:r>
              <a:rPr lang="en-US" dirty="0"/>
              <a:t>p</a:t>
            </a:r>
            <a:r>
              <a:rPr lang="en-US" dirty="0" smtClean="0"/>
              <a:t>art of the rack.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3246636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DAD9AE20B21A2B409A3A80AEAF1017A9" ma:contentTypeVersion="13" ma:contentTypeDescription="Create a new document." ma:contentTypeScope="" ma:versionID="4c6a0dd26eefe0cf870df528a1d63796">
  <xsd:schema xmlns:xsd="http://www.w3.org/2001/XMLSchema" xmlns:xs="http://www.w3.org/2001/XMLSchema" xmlns:p="http://schemas.microsoft.com/office/2006/metadata/properties" xmlns:ns2="ca0104bf-f1f4-4764-a0d1-b2c1a2ec82e3" xmlns:ns3="5e1867af-fba7-455e-9fd7-d40836eb977a" targetNamespace="http://schemas.microsoft.com/office/2006/metadata/properties" ma:root="true" ma:fieldsID="1ab35ad77eada8071fbed16958586874" ns2:_="" ns3:_="">
    <xsd:import namespace="ca0104bf-f1f4-4764-a0d1-b2c1a2ec82e3"/>
    <xsd:import namespace="5e1867af-fba7-455e-9fd7-d40836eb977a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Location" minOccurs="0"/>
                <xsd:element ref="ns2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ca0104bf-f1f4-4764-a0d1-b2c1a2ec82e3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4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6" nillable="true" ma:taxonomy="true" ma:internalName="lcf76f155ced4ddcb4097134ff3c332f" ma:taxonomyFieldName="MediaServiceImageTags" ma:displayName="Image Tags" ma:readOnly="false" ma:fieldId="{5cf76f15-5ced-4ddc-b409-7134ff3c332f}" ma:taxonomyMulti="true" ma:sspId="ed757968-b5e0-43bf-af52-13bc706514c3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8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Location" ma:index="19" nillable="true" ma:displayName="Location" ma:indexed="true" ma:internalName="MediaServiceLocation" ma:readOnly="true">
      <xsd:simpleType>
        <xsd:restriction base="dms:Text"/>
      </xsd:simpleType>
    </xsd:element>
    <xsd:element name="MediaServiceBillingMetadata" ma:index="20" nillable="true" ma:displayName="MediaServiceBillingMetadata" ma:hidden="true" ma:internalName="MediaServiceBillingMetadata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e1867af-fba7-455e-9fd7-d40836eb977a" elementFormDefault="qualified">
    <xsd:import namespace="http://schemas.microsoft.com/office/2006/documentManagement/types"/>
    <xsd:import namespace="http://schemas.microsoft.com/office/infopath/2007/PartnerControls"/>
    <xsd:element name="TaxCatchAll" ma:index="17" nillable="true" ma:displayName="Taxonomy Catch All Column" ma:hidden="true" ma:list="{d8166776-6d7f-459f-a559-71c0dbfe1f4c}" ma:internalName="TaxCatchAll" ma:showField="CatchAllData" ma:web="5e1867af-fba7-455e-9fd7-d40836eb977a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5e1867af-fba7-455e-9fd7-d40836eb977a" xsi:nil="true"/>
    <lcf76f155ced4ddcb4097134ff3c332f xmlns="ca0104bf-f1f4-4764-a0d1-b2c1a2ec82e3">
      <Terms xmlns="http://schemas.microsoft.com/office/infopath/2007/PartnerControls"/>
    </lcf76f155ced4ddcb4097134ff3c332f>
  </documentManagement>
</p:properties>
</file>

<file path=customXml/itemProps1.xml><?xml version="1.0" encoding="utf-8"?>
<ds:datastoreItem xmlns:ds="http://schemas.openxmlformats.org/officeDocument/2006/customXml" ds:itemID="{7AD896D3-5E98-400D-AC79-975E9BF00ADD}"/>
</file>

<file path=customXml/itemProps2.xml><?xml version="1.0" encoding="utf-8"?>
<ds:datastoreItem xmlns:ds="http://schemas.openxmlformats.org/officeDocument/2006/customXml" ds:itemID="{C428537A-29FA-4BA6-A811-8E801230E290}"/>
</file>

<file path=customXml/itemProps3.xml><?xml version="1.0" encoding="utf-8"?>
<ds:datastoreItem xmlns:ds="http://schemas.openxmlformats.org/officeDocument/2006/customXml" ds:itemID="{D2DD2180-02CB-487C-AFDB-C06D127CE6BA}"/>
</file>

<file path=docProps/app.xml><?xml version="1.0" encoding="utf-8"?>
<Properties xmlns="http://schemas.openxmlformats.org/officeDocument/2006/extended-properties" xmlns:vt="http://schemas.openxmlformats.org/officeDocument/2006/docPropsVTypes">
  <TotalTime>137</TotalTime>
  <Words>150</Words>
  <Application>Microsoft Office PowerPoint</Application>
  <PresentationFormat>On-screen Show (4:3)</PresentationFormat>
  <Paragraphs>45</Paragraphs>
  <Slides>2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3" baseType="lpstr">
      <vt:lpstr>Office Theme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Doug Maukonen</dc:creator>
  <cp:lastModifiedBy>Doug Maukonen</cp:lastModifiedBy>
  <cp:revision>7</cp:revision>
  <cp:lastPrinted>2021-05-17T19:44:28Z</cp:lastPrinted>
  <dcterms:created xsi:type="dcterms:W3CDTF">2021-05-17T19:39:20Z</dcterms:created>
  <dcterms:modified xsi:type="dcterms:W3CDTF">2021-05-17T21:56:39Z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0x010100DAD9AE20B21A2B409A3A80AEAF1017A9</vt:lpwstr>
  </property>
</Properties>
</file>